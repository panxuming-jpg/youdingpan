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2395728"/>
            <a:ext cx="1691640" cy="0"/>
          </a:xfrm>
          <a:prstGeom prst="line">
            <a:avLst/>
          </a:prstGeom>
          <a:noFill/>
          <a:ln w="19050">
            <a:solidFill>
              <a:srgbClr val="E7A9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7728" y="1417320"/>
            <a:ext cx="749808" cy="566928"/>
          </a:xfrm>
          <a:prstGeom prst="roundRect">
            <a:avLst>
              <a:gd name="adj" fmla="val 8065"/>
            </a:avLst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18704" y="1417320"/>
            <a:ext cx="749808" cy="566928"/>
          </a:xfrm>
          <a:prstGeom prst="roundRect">
            <a:avLst>
              <a:gd name="adj" fmla="val 8065"/>
            </a:avLst>
          </a:prstGeom>
          <a:solidFill>
            <a:srgbClr val="1F3B66"/>
          </a:solidFill>
          <a:ln w="12700">
            <a:solidFill>
              <a:srgbClr val="1F3B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67728" y="2221992"/>
            <a:ext cx="749808" cy="566928"/>
          </a:xfrm>
          <a:prstGeom prst="roundRect">
            <a:avLst>
              <a:gd name="adj" fmla="val 8065"/>
            </a:avLst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18704" y="2221992"/>
            <a:ext cx="749808" cy="566928"/>
          </a:xfrm>
          <a:prstGeom prst="roundRect">
            <a:avLst>
              <a:gd name="adj" fmla="val 8065"/>
            </a:avLst>
          </a:prstGeom>
          <a:solidFill>
            <a:srgbClr val="E7A93C"/>
          </a:solidFill>
          <a:ln w="12700">
            <a:solidFill>
              <a:srgbClr val="E7A9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67728" y="3026664"/>
            <a:ext cx="749808" cy="566928"/>
          </a:xfrm>
          <a:prstGeom prst="roundRect">
            <a:avLst>
              <a:gd name="adj" fmla="val 8065"/>
            </a:avLst>
          </a:prstGeom>
          <a:solidFill>
            <a:srgbClr val="1F3B66"/>
          </a:solidFill>
          <a:ln w="12700">
            <a:solidFill>
              <a:srgbClr val="1F3B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18704" y="3026664"/>
            <a:ext cx="749808" cy="566928"/>
          </a:xfrm>
          <a:prstGeom prst="roundRect">
            <a:avLst>
              <a:gd name="adj" fmla="val 8065"/>
            </a:avLst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18120" y="45720"/>
            <a:ext cx="1280160" cy="1280160"/>
          </a:xfrm>
          <a:prstGeom prst="ellipse">
            <a:avLst/>
          </a:prstGeom>
          <a:solidFill>
            <a:srgbClr val="16294B"/>
          </a:solidFill>
          <a:ln w="12700">
            <a:solidFill>
              <a:srgbClr val="1F3B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417320"/>
            <a:ext cx="109728" cy="2103120"/>
          </a:xfrm>
          <a:prstGeom prst="rect">
            <a:avLst/>
          </a:prstGeom>
          <a:solidFill>
            <a:srgbClr val="E7A93C"/>
          </a:solidFill>
          <a:ln w="12700">
            <a:solidFill>
              <a:srgbClr val="E7A9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5486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2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游盯盘 · YouDingPan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" y="137160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spc="25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游戏账号交易平台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713232" y="2395728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spc="100" kern="0" dirty="0">
                <a:solidFill>
                  <a:srgbClr val="E7A93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基于多智能体协同的 C2C 数字资产担保交易网络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3232" y="29260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EB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构建年轻人关心的、安全可靠的数字资产交易网络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" y="35204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数据采集  ·  拍卖  ·  AI 客服  ·  智能估值  ·  维权文书  ·  六大智能体协同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3232" y="4343400"/>
            <a:ext cx="2926080" cy="0"/>
          </a:xfrm>
          <a:prstGeom prst="line">
            <a:avLst/>
          </a:prstGeom>
          <a:noFill/>
          <a:ln w="12700">
            <a:solidFill>
              <a:srgbClr val="1F3B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EB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10 月  ·  项目介绍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475488"/>
          </a:xfrm>
          <a:prstGeom prst="rect">
            <a:avLst/>
          </a:prstGeom>
          <a:solidFill>
            <a:srgbClr val="E7A93C"/>
          </a:solidFill>
          <a:ln w="12700">
            <a:solidFill>
              <a:srgbClr val="E7A9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32918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spc="150" kern="0" dirty="0">
                <a:solidFill>
                  <a:srgbClr val="16223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目录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94944" y="78638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 · 十个部分读懂游盯盘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/ 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40233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07008"/>
            <a:ext cx="73152" cy="402336"/>
          </a:xfrm>
          <a:prstGeom prst="rect">
            <a:avLst/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20700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7C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70432" y="124358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行业痛点与机会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70432" y="142646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数字资产新财富 · 千亿市场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664208"/>
            <a:ext cx="40233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664208"/>
            <a:ext cx="73152" cy="402336"/>
          </a:xfrm>
          <a:prstGeom prst="rect">
            <a:avLst/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166420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7C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70432" y="170078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产品总览与多智能体架构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70432" y="188366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六大智能体协同驱动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121408"/>
            <a:ext cx="40233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121408"/>
            <a:ext cx="73152" cy="402336"/>
          </a:xfrm>
          <a:prstGeom prst="rect">
            <a:avLst/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212140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7C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70432" y="215798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交易安全体系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70432" y="234086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实名 · 信用 · 留痕 · 包赔 · 维权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578608"/>
            <a:ext cx="40233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578608"/>
            <a:ext cx="73152" cy="402336"/>
          </a:xfrm>
          <a:prstGeom prst="rect">
            <a:avLst/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257860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7C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170432" y="261518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便捷性体验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70432" y="279806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估值 · 一键同步 · 三方群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1207008"/>
            <a:ext cx="40233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17720" y="1207008"/>
            <a:ext cx="73152" cy="402336"/>
          </a:xfrm>
          <a:prstGeom prst="rect">
            <a:avLst/>
          </a:prstGeom>
          <a:solidFill>
            <a:srgbClr val="E7A93C"/>
          </a:solidFill>
          <a:ln w="12700">
            <a:solidFill>
              <a:srgbClr val="E7A9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64024" y="120700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87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330952" y="124358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盈利模式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330952" y="142646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佣金 · 会员 · 增值服务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17720" y="1664208"/>
            <a:ext cx="40233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17720" y="1664208"/>
            <a:ext cx="73152" cy="402336"/>
          </a:xfrm>
          <a:prstGeom prst="rect">
            <a:avLst/>
          </a:prstGeom>
          <a:solidFill>
            <a:srgbClr val="E7A93C"/>
          </a:solidFill>
          <a:ln w="12700">
            <a:solidFill>
              <a:srgbClr val="E7A9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64024" y="166420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87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5330952" y="170078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项目开展计划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330952" y="188366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 · 恒天员工 5 折冷启动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17720" y="2121408"/>
            <a:ext cx="40233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17720" y="2121408"/>
            <a:ext cx="73152" cy="402336"/>
          </a:xfrm>
          <a:prstGeom prst="rect">
            <a:avLst/>
          </a:prstGeom>
          <a:solidFill>
            <a:srgbClr val="E7A93C"/>
          </a:solidFill>
          <a:ln w="12700">
            <a:solidFill>
              <a:srgbClr val="E7A9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64024" y="212140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87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5330952" y="215798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不确定性与应对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330952" y="234086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厂商自营冲击 · 服务护城河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17720" y="2578608"/>
            <a:ext cx="40233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17720" y="2578608"/>
            <a:ext cx="73152" cy="402336"/>
          </a:xfrm>
          <a:prstGeom prst="rect">
            <a:avLst/>
          </a:prstGeom>
          <a:solidFill>
            <a:srgbClr val="E7A93C"/>
          </a:solidFill>
          <a:ln w="12700">
            <a:solidFill>
              <a:srgbClr val="E7A9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64024" y="257860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87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5330952" y="261518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愿景与结语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5330952" y="279806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安全可靠的交易网络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475488"/>
          </a:xfrm>
          <a:prstGeom prst="rect">
            <a:avLst/>
          </a:prstGeom>
          <a:solidFill>
            <a:srgbClr val="E7A93C"/>
          </a:solidFill>
          <a:ln w="12700">
            <a:solidFill>
              <a:srgbClr val="E7A9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32918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spc="150" kern="0" dirty="0">
                <a:solidFill>
                  <a:srgbClr val="16223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行业痛点与机会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94944" y="78638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数字资产已成年轻人最重要的“新财富”，交易升温但信任缺口仍在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/ 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212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73152" cy="621792"/>
          </a:xfrm>
          <a:prstGeom prst="rect">
            <a:avLst/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133856"/>
            <a:ext cx="2365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2A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千亿级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21792" y="1481328"/>
            <a:ext cx="2365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游戏账号交易市场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61360" y="1097280"/>
            <a:ext cx="26212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1360" y="1097280"/>
            <a:ext cx="73152" cy="621792"/>
          </a:xfrm>
          <a:prstGeom prst="rect">
            <a:avLst/>
          </a:prstGeom>
          <a:solidFill>
            <a:srgbClr val="E7A93C"/>
          </a:solidFill>
          <a:ln w="12700">
            <a:solidFill>
              <a:srgbClr val="E7A9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5952" y="1133856"/>
            <a:ext cx="2365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C687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十五五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425952" y="1481328"/>
            <a:ext cx="2365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数字资产确权流通东风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65520" y="1097280"/>
            <a:ext cx="26212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65520" y="1097280"/>
            <a:ext cx="73152" cy="621792"/>
          </a:xfrm>
          <a:prstGeom prst="rect">
            <a:avLst/>
          </a:prstGeom>
          <a:solidFill>
            <a:srgbClr val="2E5C9E"/>
          </a:solidFill>
          <a:ln w="12700">
            <a:solidFill>
              <a:srgbClr val="2E5C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0112" y="1133856"/>
            <a:ext cx="2365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E5C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民法典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230112" y="1481328"/>
            <a:ext cx="2365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虚拟财产受法律保护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1847088"/>
            <a:ext cx="777240" cy="603504"/>
          </a:xfrm>
          <a:prstGeom prst="rect">
            <a:avLst/>
          </a:prstGeom>
          <a:solidFill>
            <a:srgbClr val="16294B"/>
          </a:solidFill>
          <a:ln w="12700">
            <a:solidFill>
              <a:srgbClr val="1629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847088"/>
            <a:ext cx="777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信息获取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325880" y="1847088"/>
            <a:ext cx="2286000" cy="603504"/>
          </a:xfrm>
          <a:prstGeom prst="rect">
            <a:avLst/>
          </a:prstGeom>
          <a:solidFill>
            <a:srgbClr val="EAF0F8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435608" y="1847088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E06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 </a:t>
            </a:r>
            <a:pPr indent="0" marL="0">
              <a:buNone/>
            </a:pPr>
            <a:r>
              <a:rPr lang="en-US" sz="900" dirty="0">
                <a:solidFill>
                  <a:srgbClr val="162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多平台信息孤岛，逐个刷新比价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0" y="2075688"/>
            <a:ext cx="237744" cy="146304"/>
          </a:xfrm>
          <a:prstGeom prst="rightArrow">
            <a:avLst/>
          </a:prstGeom>
          <a:solidFill>
            <a:srgbClr val="E7A93C"/>
          </a:solidFill>
          <a:ln w="12700">
            <a:solidFill>
              <a:srgbClr val="E7A9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41064" y="1847088"/>
            <a:ext cx="1911096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941064" y="1847088"/>
            <a:ext cx="73152" cy="603504"/>
          </a:xfrm>
          <a:prstGeom prst="rect">
            <a:avLst/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50792" y="1847088"/>
            <a:ext cx="17282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7C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  </a:t>
            </a:r>
            <a:pPr indent="0" marL="0">
              <a:buNone/>
            </a:pPr>
            <a:r>
              <a:rPr lang="en-US" sz="900" dirty="0">
                <a:solidFill>
                  <a:srgbClr val="162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六平台聚合盯盘 + 实时推送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2500884"/>
            <a:ext cx="777240" cy="603504"/>
          </a:xfrm>
          <a:prstGeom prst="rect">
            <a:avLst/>
          </a:prstGeom>
          <a:solidFill>
            <a:srgbClr val="16294B"/>
          </a:solidFill>
          <a:ln w="12700">
            <a:solidFill>
              <a:srgbClr val="1629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500884"/>
            <a:ext cx="777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交易信任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325880" y="2500884"/>
            <a:ext cx="2286000" cy="603504"/>
          </a:xfrm>
          <a:prstGeom prst="rect">
            <a:avLst/>
          </a:prstGeom>
          <a:solidFill>
            <a:srgbClr val="EAF0F8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435608" y="2500884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E06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 </a:t>
            </a:r>
            <a:pPr indent="0" marL="0">
              <a:buNone/>
            </a:pPr>
            <a:r>
              <a:rPr lang="en-US" sz="900" dirty="0">
                <a:solidFill>
                  <a:srgbClr val="162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交接不透明，出问题举证靠自证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0" y="2729484"/>
            <a:ext cx="237744" cy="146304"/>
          </a:xfrm>
          <a:prstGeom prst="rightArrow">
            <a:avLst/>
          </a:prstGeom>
          <a:solidFill>
            <a:srgbClr val="E7A93C"/>
          </a:solidFill>
          <a:ln w="12700">
            <a:solidFill>
              <a:srgbClr val="E7A93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41064" y="2500884"/>
            <a:ext cx="1911096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941064" y="2500884"/>
            <a:ext cx="73152" cy="603504"/>
          </a:xfrm>
          <a:prstGeom prst="rect">
            <a:avLst/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50792" y="2500884"/>
            <a:ext cx="17282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7C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  </a:t>
            </a:r>
            <a:pPr indent="0" marL="0">
              <a:buNone/>
            </a:pPr>
            <a:r>
              <a:rPr lang="en-US" sz="900" dirty="0">
                <a:solidFill>
                  <a:srgbClr val="162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陪伴六步交接，证据链留痕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3154680"/>
            <a:ext cx="777240" cy="603504"/>
          </a:xfrm>
          <a:prstGeom prst="rect">
            <a:avLst/>
          </a:prstGeom>
          <a:solidFill>
            <a:srgbClr val="16294B"/>
          </a:solidFill>
          <a:ln w="12700">
            <a:solidFill>
              <a:srgbClr val="1629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154680"/>
            <a:ext cx="777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价格发现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325880" y="3154680"/>
            <a:ext cx="2286000" cy="603504"/>
          </a:xfrm>
          <a:prstGeom prst="rect">
            <a:avLst/>
          </a:prstGeom>
          <a:solidFill>
            <a:srgbClr val="EAF0F8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435608" y="315468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E06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 </a:t>
            </a:r>
            <a:pPr indent="0" marL="0">
              <a:buNone/>
            </a:pPr>
            <a:r>
              <a:rPr lang="en-US" sz="900" dirty="0">
                <a:solidFill>
                  <a:srgbClr val="162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孤品无标准价，怕买贵怕卖亏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57600" y="3383280"/>
            <a:ext cx="237744" cy="146304"/>
          </a:xfrm>
          <a:prstGeom prst="rightArrow">
            <a:avLst/>
          </a:prstGeom>
          <a:solidFill>
            <a:srgbClr val="E7A93C"/>
          </a:solidFill>
          <a:ln w="12700">
            <a:solidFill>
              <a:srgbClr val="E7A93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41064" y="3154680"/>
            <a:ext cx="1911096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941064" y="3154680"/>
            <a:ext cx="73152" cy="603504"/>
          </a:xfrm>
          <a:prstGeom prst="rect">
            <a:avLst/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50792" y="3154680"/>
            <a:ext cx="17282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7C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  </a:t>
            </a:r>
            <a:pPr indent="0" marL="0">
              <a:buNone/>
            </a:pPr>
            <a:r>
              <a:rPr lang="en-US" sz="900" dirty="0">
                <a:solidFill>
                  <a:srgbClr val="162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智能估值 + 拍卖市场定价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57200" y="3808476"/>
            <a:ext cx="777240" cy="603504"/>
          </a:xfrm>
          <a:prstGeom prst="rect">
            <a:avLst/>
          </a:prstGeom>
          <a:solidFill>
            <a:srgbClr val="16294B"/>
          </a:solidFill>
          <a:ln w="12700">
            <a:solidFill>
              <a:srgbClr val="16294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3808476"/>
            <a:ext cx="777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售后维权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325880" y="3808476"/>
            <a:ext cx="2286000" cy="603504"/>
          </a:xfrm>
          <a:prstGeom prst="rect">
            <a:avLst/>
          </a:prstGeom>
          <a:solidFill>
            <a:srgbClr val="EAF0F8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435608" y="3808476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E06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 </a:t>
            </a:r>
            <a:pPr indent="0" marL="0">
              <a:buNone/>
            </a:pPr>
            <a:r>
              <a:rPr lang="en-US" sz="900" dirty="0">
                <a:solidFill>
                  <a:srgbClr val="162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判定权在平台，起诉取证难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657600" y="4037076"/>
            <a:ext cx="237744" cy="146304"/>
          </a:xfrm>
          <a:prstGeom prst="rightArrow">
            <a:avLst/>
          </a:prstGeom>
          <a:solidFill>
            <a:srgbClr val="E7A93C"/>
          </a:solidFill>
          <a:ln w="12700">
            <a:solidFill>
              <a:srgbClr val="E7A93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941064" y="3808476"/>
            <a:ext cx="1911096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941064" y="3808476"/>
            <a:ext cx="73152" cy="603504"/>
          </a:xfrm>
          <a:prstGeom prst="rect">
            <a:avLst/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50792" y="3808476"/>
            <a:ext cx="17282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7C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  </a:t>
            </a:r>
            <a:pPr indent="0" marL="0">
              <a:buNone/>
            </a:pPr>
            <a:r>
              <a:rPr lang="en-US" sz="900" dirty="0">
                <a:solidFill>
                  <a:srgbClr val="162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三份文书一键生成 + 派出所检索</a:t>
            </a:r>
            <a:endParaRPr lang="en-US" sz="850" dirty="0"/>
          </a:p>
        </p:txBody>
      </p:sp>
      <p:pic>
        <p:nvPicPr>
          <p:cNvPr id="50" name="Image 0" descr="C:\Users\52212\AppData\Local\Temp\ydp_ppt\assets\news_market_1800x7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847088"/>
            <a:ext cx="2697480" cy="1078992"/>
          </a:xfrm>
          <a:prstGeom prst="rect">
            <a:avLst/>
          </a:prstGeom>
        </p:spPr>
      </p:pic>
      <p:sp>
        <p:nvSpPr>
          <p:cNvPr id="51" name="Text 48"/>
          <p:cNvSpPr/>
          <p:nvPr/>
        </p:nvSpPr>
        <p:spPr>
          <a:xfrm>
            <a:off x="5989320" y="2944368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行业报道：账号交易升温，数字资产成“新储蓄”</a:t>
            </a:r>
            <a:endParaRPr lang="en-US" sz="800" dirty="0"/>
          </a:p>
        </p:txBody>
      </p:sp>
      <p:pic>
        <p:nvPicPr>
          <p:cNvPr id="52" name="Image 1" descr="C:\Users\52212\AppData\Local\Temp\ydp_ppt\assets\news_dispute_1800x74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182112"/>
            <a:ext cx="2697480" cy="1108964"/>
          </a:xfrm>
          <a:prstGeom prst="rect">
            <a:avLst/>
          </a:prstGeom>
        </p:spPr>
      </p:pic>
      <p:sp>
        <p:nvSpPr>
          <p:cNvPr id="53" name="Text 49"/>
          <p:cNvSpPr/>
          <p:nvPr/>
        </p:nvSpPr>
        <p:spPr>
          <a:xfrm>
            <a:off x="5989320" y="4309364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账号找回纠纷屡见报端，法院判卖家全额赔偿</a:t>
            </a:r>
            <a:endParaRPr lang="en-US" sz="800" dirty="0"/>
          </a:p>
        </p:txBody>
      </p:sp>
      <p:sp>
        <p:nvSpPr>
          <p:cNvPr id="54" name="Shape 50"/>
          <p:cNvSpPr/>
          <p:nvPr/>
        </p:nvSpPr>
        <p:spPr>
          <a:xfrm>
            <a:off x="457200" y="4590288"/>
            <a:ext cx="8229600" cy="457200"/>
          </a:xfrm>
          <a:prstGeom prst="rect">
            <a:avLst/>
          </a:prstGeom>
          <a:solidFill>
            <a:srgbClr val="0E1C38"/>
          </a:solidFill>
          <a:ln w="12700">
            <a:solidFill>
              <a:srgbClr val="0E1C38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640080" y="45902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当“买得到、赔得到”已是头部标配，我们把差异化做在服务深度：盯盘更实时、交接更全程、存证更司法级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475488"/>
          </a:xfrm>
          <a:prstGeom prst="rect">
            <a:avLst/>
          </a:prstGeom>
          <a:solidFill>
            <a:srgbClr val="E7A93C"/>
          </a:solidFill>
          <a:ln w="12700">
            <a:solidFill>
              <a:srgbClr val="E7A9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32918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spc="150" kern="0" dirty="0">
                <a:solidFill>
                  <a:srgbClr val="16223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产品总览与多智能体架构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94944" y="78638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平台不持有库存，AI 驱动整个线上交易流程；六智能体围绕统一数据总线协同、互不阻塞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/ 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52144"/>
            <a:ext cx="8229600" cy="402336"/>
          </a:xfrm>
          <a:prstGeom prst="rect">
            <a:avLst/>
          </a:prstGeom>
          <a:solidFill>
            <a:srgbClr val="16294B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52144"/>
            <a:ext cx="73152" cy="402336"/>
          </a:xfrm>
          <a:prstGeom prst="rect">
            <a:avLst/>
          </a:prstGeom>
          <a:solidFill>
            <a:srgbClr val="E7A93C"/>
          </a:solidFill>
          <a:ln w="12700">
            <a:solidFill>
              <a:srgbClr val="E7A9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5214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E7A9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C2C 担保交易网络：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个人卖家发布账号 · 个人买家下单/竞拍 · LLM 可用时智能增强、不可用时规则兜底，任一智能体故障均不影响整体交易链路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8229600" cy="310896"/>
          </a:xfrm>
          <a:prstGeom prst="rect">
            <a:avLst/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830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统一数据总线  ·  事件驱动  ·  互不阻塞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12848"/>
            <a:ext cx="264566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212848"/>
            <a:ext cx="73152" cy="841248"/>
          </a:xfrm>
          <a:prstGeom prst="rect">
            <a:avLst/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322576"/>
            <a:ext cx="2078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62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多平台数据采集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03504" y="2633472"/>
            <a:ext cx="2371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实时聚合 6 大平台最新挂单，盯盘推送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3504" y="2871216"/>
            <a:ext cx="2371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0B7C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 · 每平台约 30 分钟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03504" y="2340864"/>
            <a:ext cx="274320" cy="274320"/>
          </a:xfrm>
          <a:prstGeom prst="ellipse">
            <a:avLst/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49168" y="2212848"/>
            <a:ext cx="264566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9168" y="2212848"/>
            <a:ext cx="73152" cy="841248"/>
          </a:xfrm>
          <a:prstGeom prst="rect">
            <a:avLst/>
          </a:prstGeom>
          <a:solidFill>
            <a:srgbClr val="E7A93C"/>
          </a:solidFill>
          <a:ln w="12700">
            <a:solidFill>
              <a:srgbClr val="E7A9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2944" y="2322576"/>
            <a:ext cx="2078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62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拍卖结算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395472" y="2633472"/>
            <a:ext cx="2371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起拍/保证金/延时/成交/流拍全自动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95472" y="2871216"/>
            <a:ext cx="2371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0B7C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秒定时扫描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95472" y="2340864"/>
            <a:ext cx="274320" cy="274320"/>
          </a:xfrm>
          <a:prstGeom prst="ellipse">
            <a:avLst/>
          </a:prstGeom>
          <a:solidFill>
            <a:srgbClr val="E7A93C"/>
          </a:solidFill>
          <a:ln w="12700">
            <a:solidFill>
              <a:srgbClr val="E7A9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95472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41136" y="2212848"/>
            <a:ext cx="264566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41136" y="2212848"/>
            <a:ext cx="73152" cy="841248"/>
          </a:xfrm>
          <a:prstGeom prst="rect">
            <a:avLst/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4912" y="2322576"/>
            <a:ext cx="2078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62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C2C 担保交易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187440" y="2633472"/>
            <a:ext cx="2371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驱动六步交接状态机，超时异常自动兜底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87440" y="2871216"/>
            <a:ext cx="2371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0B7C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秒定时扫描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187440" y="2340864"/>
            <a:ext cx="274320" cy="274320"/>
          </a:xfrm>
          <a:prstGeom prst="ellipse">
            <a:avLst/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87440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3182112"/>
            <a:ext cx="264566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3182112"/>
            <a:ext cx="73152" cy="841248"/>
          </a:xfrm>
          <a:prstGeom prst="rect">
            <a:avLst/>
          </a:prstGeom>
          <a:solidFill>
            <a:srgbClr val="E7A93C"/>
          </a:solidFill>
          <a:ln w="12700">
            <a:solidFill>
              <a:srgbClr val="E7A9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0976" y="3291840"/>
            <a:ext cx="2078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62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客服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03504" y="3602736"/>
            <a:ext cx="2371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自动拉群、全程陪伴、风险监测、留痕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3504" y="3840480"/>
            <a:ext cx="2371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0B7C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订单消息实时触发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03504" y="3310128"/>
            <a:ext cx="274320" cy="274320"/>
          </a:xfrm>
          <a:prstGeom prst="ellipse">
            <a:avLst/>
          </a:prstGeom>
          <a:solidFill>
            <a:srgbClr val="E7A93C"/>
          </a:solidFill>
          <a:ln w="12700">
            <a:solidFill>
              <a:srgbClr val="E7A9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3504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249168" y="3182112"/>
            <a:ext cx="264566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49168" y="3182112"/>
            <a:ext cx="73152" cy="841248"/>
          </a:xfrm>
          <a:prstGeom prst="rect">
            <a:avLst/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42944" y="3291840"/>
            <a:ext cx="2078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62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智能估值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3395472" y="3602736"/>
            <a:ext cx="2371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资产读取 + 样本比对，输出估值区间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395472" y="3840480"/>
            <a:ext cx="2371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0B7C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上架/成交时触发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395472" y="3310128"/>
            <a:ext cx="274320" cy="274320"/>
          </a:xfrm>
          <a:prstGeom prst="ellipse">
            <a:avLst/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95472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041136" y="3182112"/>
            <a:ext cx="264566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041136" y="3182112"/>
            <a:ext cx="73152" cy="841248"/>
          </a:xfrm>
          <a:prstGeom prst="rect">
            <a:avLst/>
          </a:prstGeom>
          <a:solidFill>
            <a:srgbClr val="E7A93C"/>
          </a:solidFill>
          <a:ln w="12700">
            <a:solidFill>
              <a:srgbClr val="E7A93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34912" y="3291840"/>
            <a:ext cx="2078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62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维权文书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187440" y="3602736"/>
            <a:ext cx="2371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证据归集，自动生成起诉状等三份文书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187440" y="3840480"/>
            <a:ext cx="2371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0B7C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用户一键发起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187440" y="3310128"/>
            <a:ext cx="274320" cy="274320"/>
          </a:xfrm>
          <a:prstGeom prst="ellipse">
            <a:avLst/>
          </a:prstGeom>
          <a:solidFill>
            <a:srgbClr val="E7A93C"/>
          </a:solidFill>
          <a:ln w="12700">
            <a:solidFill>
              <a:srgbClr val="E7A93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87440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57200" y="4133088"/>
            <a:ext cx="8229600" cy="384048"/>
          </a:xfrm>
          <a:prstGeom prst="rect">
            <a:avLst/>
          </a:prstGeom>
          <a:solidFill>
            <a:srgbClr val="EAF0F8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40080" y="413308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629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技术底座  </a:t>
            </a:r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Node.js + Express + Vue 3 + SQLite(WAL) 单文件零运维 · SSE 实时推送 · Puppeteer 拟人化采集 · LLM 可选接入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475488"/>
          </a:xfrm>
          <a:prstGeom prst="rect">
            <a:avLst/>
          </a:prstGeom>
          <a:solidFill>
            <a:srgbClr val="E7A93C"/>
          </a:solidFill>
          <a:ln w="12700">
            <a:solidFill>
              <a:srgbClr val="E7A9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32918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spc="150" kern="0" dirty="0">
                <a:solidFill>
                  <a:srgbClr val="16223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交易安全体系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94944" y="78638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从准入到售后的全链路安全闭环——安全是游盯盘的立身之本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/ 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8229600" cy="402336"/>
          </a:xfrm>
          <a:prstGeom prst="rect">
            <a:avLst/>
          </a:prstGeom>
          <a:solidFill>
            <a:srgbClr val="16294B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78992"/>
            <a:ext cx="73152" cy="402336"/>
          </a:xfrm>
          <a:prstGeom prst="rect">
            <a:avLst/>
          </a:prstGeom>
          <a:solidFill>
            <a:srgbClr val="E7A93C"/>
          </a:solidFill>
          <a:ln w="12700">
            <a:solidFill>
              <a:srgbClr val="E7A9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1078992"/>
            <a:ext cx="7790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E7A9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电子合同 · 拍下即签 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买家拍下商品后，买卖双方立即签署电子合同，与纸质合同同等法律效力——交易留凭、维权有据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572768"/>
            <a:ext cx="264566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572768"/>
            <a:ext cx="73152" cy="1371600"/>
          </a:xfrm>
          <a:prstGeom prst="rect">
            <a:avLst/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1719072"/>
            <a:ext cx="202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2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实名三重认证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" y="2103120"/>
            <a:ext cx="2371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手机验证码 + 身份证实名 + 人脸活体，全部通过方可交易；未满 18 岁实名环节直接拦截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" y="1719072"/>
            <a:ext cx="310896" cy="310896"/>
          </a:xfrm>
          <a:prstGeom prst="ellipse">
            <a:avLst/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49168" y="1572768"/>
            <a:ext cx="264566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9168" y="1572768"/>
            <a:ext cx="73152" cy="1371600"/>
          </a:xfrm>
          <a:prstGeom prst="rect">
            <a:avLst/>
          </a:prstGeom>
          <a:solidFill>
            <a:srgbClr val="2E5C9E"/>
          </a:solidFill>
          <a:ln w="12700">
            <a:solidFill>
              <a:srgbClr val="2E5C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79520" y="1719072"/>
            <a:ext cx="202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2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信用分绑定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95472" y="2103120"/>
            <a:ext cx="2371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接入支付宝芝麻信用/微信信用分，买卖双方信用分进入订单档案，卖家信用分级展示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95472" y="1719072"/>
            <a:ext cx="310896" cy="310896"/>
          </a:xfrm>
          <a:prstGeom prst="ellipse">
            <a:avLst/>
          </a:prstGeom>
          <a:solidFill>
            <a:srgbClr val="2E5C9E"/>
          </a:solidFill>
          <a:ln w="12700">
            <a:solidFill>
              <a:srgbClr val="2E5C9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95472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41136" y="1572768"/>
            <a:ext cx="264566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41136" y="1572768"/>
            <a:ext cx="73152" cy="1371600"/>
          </a:xfrm>
          <a:prstGeom prst="rect">
            <a:avLst/>
          </a:prstGeom>
          <a:solidFill>
            <a:srgbClr val="E7A93C"/>
          </a:solidFill>
          <a:ln w="12700">
            <a:solidFill>
              <a:srgbClr val="E7A9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71488" y="1719072"/>
            <a:ext cx="202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2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归属凭证审核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87440" y="2103120"/>
            <a:ext cx="2371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卖家上架须提交账号归属凭证（注册页/首充账单/实名页）并经人工审核，锁定真实归属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87440" y="1719072"/>
            <a:ext cx="310896" cy="310896"/>
          </a:xfrm>
          <a:prstGeom prst="ellipse">
            <a:avLst/>
          </a:prstGeom>
          <a:solidFill>
            <a:srgbClr val="E7A93C"/>
          </a:solidFill>
          <a:ln w="12700">
            <a:solidFill>
              <a:srgbClr val="E7A9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87440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3072384"/>
            <a:ext cx="264566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072384"/>
            <a:ext cx="73152" cy="1371600"/>
          </a:xfrm>
          <a:prstGeom prst="rect">
            <a:avLst/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7552" y="3218688"/>
            <a:ext cx="202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2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全程证据留痕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3504" y="3602736"/>
            <a:ext cx="2371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三方会话与六步交接动作写入只增不改的证据链，既是仲裁依据，也是维权文书直接来源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3504" y="3218688"/>
            <a:ext cx="310896" cy="310896"/>
          </a:xfrm>
          <a:prstGeom prst="ellipse">
            <a:avLst/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" y="3218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249168" y="3072384"/>
            <a:ext cx="264566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49168" y="3072384"/>
            <a:ext cx="73152" cy="1371600"/>
          </a:xfrm>
          <a:prstGeom prst="rect">
            <a:avLst/>
          </a:prstGeom>
          <a:solidFill>
            <a:srgbClr val="E06A5A"/>
          </a:solidFill>
          <a:ln w="12700">
            <a:solidFill>
              <a:srgbClr val="E06A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79520" y="3218688"/>
            <a:ext cx="202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2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找回包赔计划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95472" y="3602736"/>
            <a:ext cx="2371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账号被违法找回触发平台赔付，配合估值快照定损，形成“法律维权 + 平台赔付”双保险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395472" y="3218688"/>
            <a:ext cx="310896" cy="310896"/>
          </a:xfrm>
          <a:prstGeom prst="ellipse">
            <a:avLst/>
          </a:prstGeom>
          <a:solidFill>
            <a:srgbClr val="E06A5A"/>
          </a:solidFill>
          <a:ln w="12700">
            <a:solidFill>
              <a:srgbClr val="E06A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95472" y="3218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041136" y="3072384"/>
            <a:ext cx="264566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41136" y="3072384"/>
            <a:ext cx="73152" cy="1371600"/>
          </a:xfrm>
          <a:prstGeom prst="rect">
            <a:avLst/>
          </a:prstGeom>
          <a:solidFill>
            <a:srgbClr val="16294B"/>
          </a:solidFill>
          <a:ln w="12700">
            <a:solidFill>
              <a:srgbClr val="16294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71488" y="3218688"/>
            <a:ext cx="202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2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司法级维权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187440" y="3602736"/>
            <a:ext cx="2371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一键生成民事起诉状、报案材料包、交易存证证明，文书脱敏 + SHA256 防篡改 + 派出所检索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87440" y="3218688"/>
            <a:ext cx="310896" cy="310896"/>
          </a:xfrm>
          <a:prstGeom prst="ellipse">
            <a:avLst/>
          </a:prstGeom>
          <a:solidFill>
            <a:srgbClr val="16294B"/>
          </a:solidFill>
          <a:ln w="12700">
            <a:solidFill>
              <a:srgbClr val="16294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87440" y="3218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57200" y="4590288"/>
            <a:ext cx="8229600" cy="457200"/>
          </a:xfrm>
          <a:prstGeom prst="rect">
            <a:avLst/>
          </a:prstGeom>
          <a:solidFill>
            <a:srgbClr val="0E1C38"/>
          </a:solidFill>
          <a:ln w="12700">
            <a:solidFill>
              <a:srgbClr val="0E1C3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45902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丢了能赔 · 赔了能告 · 告得赢 —— 把“赔了就算完”升级为完整的信任闭环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475488"/>
          </a:xfrm>
          <a:prstGeom prst="rect">
            <a:avLst/>
          </a:prstGeom>
          <a:solidFill>
            <a:srgbClr val="E7A93C"/>
          </a:solidFill>
          <a:ln w="12700">
            <a:solidFill>
              <a:srgbClr val="E7A9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32918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spc="150" kern="0" dirty="0">
                <a:solidFill>
                  <a:srgbClr val="16223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便捷性体验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94944" y="78638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把繁琐留给自己，把简单交给用户——盯、价、交、比全程省心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/ 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37947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70432"/>
            <a:ext cx="73152" cy="3200400"/>
          </a:xfrm>
          <a:prstGeom prst="rect">
            <a:avLst/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7C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客服三方服务群 · 一站式交接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" y="1682496"/>
            <a:ext cx="3474720" cy="566928"/>
          </a:xfrm>
          <a:prstGeom prst="roundRect">
            <a:avLst>
              <a:gd name="adj" fmla="val 9677"/>
            </a:avLst>
          </a:prstGeom>
          <a:solidFill>
            <a:srgbClr val="EAF0F8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7373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买家拍下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9568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客服自动拉群：买家 + 卖家 + 平台客服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76656" y="1828800"/>
            <a:ext cx="274320" cy="274320"/>
          </a:xfrm>
          <a:prstGeom prst="ellipse">
            <a:avLst/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31720" y="2263140"/>
            <a:ext cx="118872" cy="82296"/>
          </a:xfrm>
          <a:prstGeom prst="downArrow">
            <a:avLst/>
          </a:prstGeom>
          <a:solidFill>
            <a:srgbClr val="E7A93C"/>
          </a:solidFill>
          <a:ln w="12700">
            <a:solidFill>
              <a:srgbClr val="E7A9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2359152"/>
            <a:ext cx="3474720" cy="566928"/>
          </a:xfrm>
          <a:prstGeom prst="roundRect">
            <a:avLst>
              <a:gd name="adj" fmla="val 9677"/>
            </a:avLst>
          </a:prstGeom>
          <a:solidFill>
            <a:srgbClr val="EAF0F8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241401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验号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6334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结构化资产核对，鉴号报告产出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76656" y="2505456"/>
            <a:ext cx="274320" cy="274320"/>
          </a:xfrm>
          <a:prstGeom prst="ellipse">
            <a:avLst/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" y="2505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331720" y="2939796"/>
            <a:ext cx="118872" cy="82296"/>
          </a:xfrm>
          <a:prstGeom prst="downArrow">
            <a:avLst/>
          </a:prstGeom>
          <a:solidFill>
            <a:srgbClr val="E7A93C"/>
          </a:solidFill>
          <a:ln w="12700">
            <a:solidFill>
              <a:srgbClr val="E7A9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" y="3035808"/>
            <a:ext cx="3474720" cy="566928"/>
          </a:xfrm>
          <a:prstGeom prst="roundRect">
            <a:avLst>
              <a:gd name="adj" fmla="val 9677"/>
            </a:avLst>
          </a:prstGeom>
          <a:solidFill>
            <a:srgbClr val="EAF0F8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0906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换绑与二次实名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33101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每步操作指引，超时自动提醒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76656" y="3182112"/>
            <a:ext cx="274320" cy="274320"/>
          </a:xfrm>
          <a:prstGeom prst="ellipse">
            <a:avLst/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" y="3182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331720" y="3616452"/>
            <a:ext cx="118872" cy="82296"/>
          </a:xfrm>
          <a:prstGeom prst="downArrow">
            <a:avLst/>
          </a:prstGeom>
          <a:solidFill>
            <a:srgbClr val="E7A93C"/>
          </a:solidFill>
          <a:ln w="12700">
            <a:solidFill>
              <a:srgbClr val="E7A9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" y="3712464"/>
            <a:ext cx="3474720" cy="566928"/>
          </a:xfrm>
          <a:prstGeom prst="roundRect">
            <a:avLst>
              <a:gd name="adj" fmla="val 9677"/>
            </a:avLst>
          </a:prstGeom>
          <a:solidFill>
            <a:srgbClr val="EAF0F8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37673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确认收货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39867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群内确认，平台结算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76656" y="3858768"/>
            <a:ext cx="274320" cy="274320"/>
          </a:xfrm>
          <a:prstGeom prst="ellipse">
            <a:avLst/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" y="3858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389120" y="1170432"/>
            <a:ext cx="429768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389120" y="1170432"/>
            <a:ext cx="73152" cy="987552"/>
          </a:xfrm>
          <a:prstGeom prst="rect">
            <a:avLst/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53712" y="12618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智能估值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53712" y="1554480"/>
            <a:ext cx="4005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输入账号自动读取段位/皮肤/英雄/战力等结构化资产，结合近期成交样本输出估值区间、置信度与性价比分，上架即见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389120" y="2276856"/>
            <a:ext cx="429768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389120" y="2276856"/>
            <a:ext cx="73152" cy="987552"/>
          </a:xfrm>
          <a:prstGeom prst="rect">
            <a:avLst/>
          </a:prstGeom>
          <a:solidFill>
            <a:srgbClr val="E7A93C"/>
          </a:solidFill>
          <a:ln w="12700">
            <a:solidFill>
              <a:srgbClr val="E7A9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53712" y="23682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C687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六平台一键同步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4553712" y="2660904"/>
            <a:ext cx="4005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会员卖家发布商品自动同步至交易猫/盼之/螃蟹/7881/DD373/5173 六大平台上架，一次发布、全网曝光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389120" y="3383280"/>
            <a:ext cx="429768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389120" y="3383280"/>
            <a:ext cx="73152" cy="987552"/>
          </a:xfrm>
          <a:prstGeom prst="rect">
            <a:avLst/>
          </a:prstGeom>
          <a:solidFill>
            <a:srgbClr val="2E5C9E"/>
          </a:solidFill>
          <a:ln w="12700">
            <a:solidFill>
              <a:srgbClr val="2E5C9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53712" y="34747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E5C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全网比价与监控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4553712" y="3767328"/>
            <a:ext cx="4005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六大平台实时采集比价，降价监控秒推提醒，价格走势一目了然，孤品也能“盯上就有”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4590288"/>
            <a:ext cx="8229600" cy="457200"/>
          </a:xfrm>
          <a:prstGeom prst="rect">
            <a:avLst/>
          </a:prstGeom>
          <a:solidFill>
            <a:srgbClr val="0E1C38"/>
          </a:solidFill>
          <a:ln w="12700">
            <a:solidFill>
              <a:srgbClr val="0E1C3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45902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游拍卖 · 买家/卖家身份分区 · 帮助中心 —— 交易像有一位专属管家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475488"/>
          </a:xfrm>
          <a:prstGeom prst="rect">
            <a:avLst/>
          </a:prstGeom>
          <a:solidFill>
            <a:srgbClr val="E7A93C"/>
          </a:solidFill>
          <a:ln w="12700">
            <a:solidFill>
              <a:srgbClr val="E7A9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32918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spc="150" kern="0" dirty="0">
                <a:solidFill>
                  <a:srgbClr val="16223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盈利模式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94944" y="78638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收入来源清晰，交易类收益 + 会员订阅双轮驱动，形成正向飞轮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/ 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52144"/>
            <a:ext cx="1543507" cy="457200"/>
          </a:xfrm>
          <a:prstGeom prst="rect">
            <a:avLst/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52144"/>
            <a:ext cx="15435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交易佣金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128723" y="1152144"/>
            <a:ext cx="1543507" cy="457200"/>
          </a:xfrm>
          <a:prstGeom prst="rect">
            <a:avLst/>
          </a:prstGeom>
          <a:solidFill>
            <a:srgbClr val="2E5C9E"/>
          </a:solidFill>
          <a:ln w="12700">
            <a:solidFill>
              <a:srgbClr val="2E5C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28723" y="1152144"/>
            <a:ext cx="15435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拍卖服务费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00246" y="1152144"/>
            <a:ext cx="1543507" cy="457200"/>
          </a:xfrm>
          <a:prstGeom prst="rect">
            <a:avLst/>
          </a:prstGeom>
          <a:solidFill>
            <a:srgbClr val="E7A93C"/>
          </a:solidFill>
          <a:ln w="12700">
            <a:solidFill>
              <a:srgbClr val="E7A9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00246" y="1152144"/>
            <a:ext cx="15435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鉴号服务费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71770" y="1152144"/>
            <a:ext cx="1543507" cy="457200"/>
          </a:xfrm>
          <a:prstGeom prst="rect">
            <a:avLst/>
          </a:prstGeom>
          <a:solidFill>
            <a:srgbClr val="E06A5A"/>
          </a:solidFill>
          <a:ln w="12700">
            <a:solidFill>
              <a:srgbClr val="E06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71770" y="1152144"/>
            <a:ext cx="15435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找回包赔保费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43293" y="1152144"/>
            <a:ext cx="1543507" cy="457200"/>
          </a:xfrm>
          <a:prstGeom prst="rect">
            <a:avLst/>
          </a:prstGeom>
          <a:solidFill>
            <a:srgbClr val="16294B"/>
          </a:solidFill>
          <a:ln w="12700">
            <a:solidFill>
              <a:srgbClr val="1629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43293" y="1152144"/>
            <a:ext cx="15435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全网盯盘会员费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1755648"/>
            <a:ext cx="26212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1755648"/>
            <a:ext cx="73152" cy="786384"/>
          </a:xfrm>
          <a:prstGeom prst="rect">
            <a:avLst/>
          </a:prstGeom>
          <a:solidFill>
            <a:srgbClr val="0B7C79"/>
          </a:solidFill>
          <a:ln w="12700">
            <a:solidFill>
              <a:srgbClr val="0B7C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847088"/>
            <a:ext cx="234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7C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笔/天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640080" y="2249424"/>
            <a:ext cx="2346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日均成交量假设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61360" y="1755648"/>
            <a:ext cx="26212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61360" y="1755648"/>
            <a:ext cx="73152" cy="786384"/>
          </a:xfrm>
          <a:prstGeom prst="rect">
            <a:avLst/>
          </a:prstGeom>
          <a:solidFill>
            <a:srgbClr val="2E5C9E"/>
          </a:solidFill>
          <a:ln w="12700">
            <a:solidFill>
              <a:srgbClr val="2E5C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44240" y="1847088"/>
            <a:ext cx="234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E5C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元/笔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3444240" y="2249424"/>
            <a:ext cx="2346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单笔平均综合收益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65520" y="1755648"/>
            <a:ext cx="26212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65520" y="1755648"/>
            <a:ext cx="73152" cy="786384"/>
          </a:xfrm>
          <a:prstGeom prst="rect">
            <a:avLst/>
          </a:prstGeom>
          <a:solidFill>
            <a:srgbClr val="C6871F"/>
          </a:solidFill>
          <a:ln w="12700">
            <a:solidFill>
              <a:srgbClr val="C687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48400" y="1847088"/>
            <a:ext cx="234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C687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万+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6248400" y="2249424"/>
            <a:ext cx="2346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月交易类收益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2670048"/>
            <a:ext cx="8229600" cy="365760"/>
          </a:xfrm>
          <a:prstGeom prst="rect">
            <a:avLst/>
          </a:prstGeom>
          <a:solidFill>
            <a:srgbClr val="EAF0F8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1792" y="2670048"/>
            <a:ext cx="7900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2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全网盯盘会员按周/月订阅，解锁六平台实时监控、降价秒推、收藏提醒与价格走势——会员费是与交易量解耦的稳定现金流；收益持续投入估值模型、AI 客服与维权能力，形成正向飞轮。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3163824"/>
            <a:ext cx="8229600" cy="1298448"/>
          </a:xfrm>
          <a:prstGeom prst="rect">
            <a:avLst/>
          </a:prstGeom>
          <a:solidFill>
            <a:srgbClr val="0E1C38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163824"/>
            <a:ext cx="73152" cy="1298448"/>
          </a:xfrm>
          <a:prstGeom prst="rect">
            <a:avLst/>
          </a:prstGeom>
          <a:solidFill>
            <a:srgbClr val="E7A93C"/>
          </a:solidFill>
          <a:ln w="12700">
            <a:solidFill>
              <a:srgbClr val="E7A9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" y="3291840"/>
            <a:ext cx="779068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7A9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关键测算：找回包赔保费降到 50 元，盈利空间依然相对乐观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包赔赔付率天然偏低——账号被找回是小概率事件，且平台实名 + 归属凭证审核 + 全程留痕进一步压降恶意找回；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即便单笔保费从行业常见水平降至 50 元，凭借规模效应摊薄赔付成本，保费池 + 佣金 + 会员费叠加，整体盈利仍具弹性。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475488"/>
          </a:xfrm>
          <a:prstGeom prst="rect">
            <a:avLst/>
          </a:prstGeom>
          <a:solidFill>
            <a:srgbClr val="E7A93C"/>
          </a:solidFill>
          <a:ln w="12700">
            <a:solidFill>
              <a:srgbClr val="E7A9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32918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spc="150" kern="0" dirty="0">
                <a:solidFill>
                  <a:srgbClr val="16223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项目开展计划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94944" y="78638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口碑在前、规模在后：先用服务质量立口碑，再以智能体自动化极低边际成本扩规模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/ 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212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73152" cy="1828800"/>
          </a:xfrm>
          <a:prstGeom prst="rect">
            <a:avLst/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1335024"/>
            <a:ext cx="1908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2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78992" y="1554480"/>
            <a:ext cx="1908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0B7C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0–6 个月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21792" y="1810512"/>
            <a:ext cx="2346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2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立口碑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1792" y="2084832"/>
            <a:ext cx="23286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只做 1–2 款最活跃游戏（如王者荣耀、原神），在小圈子打造口碑：行家选品、AI 全程陪伴、被找回包赔，跑通“盯盘—估值—担保交易—维权”全闭环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" y="1335024"/>
            <a:ext cx="384048" cy="384048"/>
          </a:xfrm>
          <a:prstGeom prst="ellipse">
            <a:avLst/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1335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096768" y="2011680"/>
            <a:ext cx="146304" cy="182880"/>
          </a:xfrm>
          <a:prstGeom prst="rightArrow">
            <a:avLst/>
          </a:prstGeom>
          <a:solidFill>
            <a:srgbClr val="E7A93C"/>
          </a:solidFill>
          <a:ln w="12700">
            <a:solidFill>
              <a:srgbClr val="E7A9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61360" y="1188720"/>
            <a:ext cx="26212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61360" y="1188720"/>
            <a:ext cx="73152" cy="1828800"/>
          </a:xfrm>
          <a:prstGeom prst="rect">
            <a:avLst/>
          </a:prstGeom>
          <a:solidFill>
            <a:srgbClr val="2E5C9E"/>
          </a:solidFill>
          <a:ln w="12700">
            <a:solidFill>
              <a:srgbClr val="2E5C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3152" y="1335024"/>
            <a:ext cx="1908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2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83152" y="1554480"/>
            <a:ext cx="1908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2E5C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6–18 个月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25952" y="1810512"/>
            <a:ext cx="2346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E5C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提规模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425952" y="2084832"/>
            <a:ext cx="23286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扩展至 10+ 游戏品类，开放鉴号专家网络，卖家信用体系与包赔计划规模化，估值模型持续调优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25952" y="1335024"/>
            <a:ext cx="384048" cy="384048"/>
          </a:xfrm>
          <a:prstGeom prst="ellipse">
            <a:avLst/>
          </a:prstGeom>
          <a:solidFill>
            <a:srgbClr val="2E5C9E"/>
          </a:solidFill>
          <a:ln w="12700">
            <a:solidFill>
              <a:srgbClr val="2E5C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5952" y="1335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00928" y="2011680"/>
            <a:ext cx="146304" cy="182880"/>
          </a:xfrm>
          <a:prstGeom prst="rightArrow">
            <a:avLst/>
          </a:prstGeom>
          <a:solidFill>
            <a:srgbClr val="E7A93C"/>
          </a:solidFill>
          <a:ln w="12700">
            <a:solidFill>
              <a:srgbClr val="E7A9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65520" y="1188720"/>
            <a:ext cx="26212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65520" y="1188720"/>
            <a:ext cx="73152" cy="1828800"/>
          </a:xfrm>
          <a:prstGeom prst="rect">
            <a:avLst/>
          </a:prstGeom>
          <a:solidFill>
            <a:srgbClr val="16294B"/>
          </a:solidFill>
          <a:ln w="12700">
            <a:solidFill>
              <a:srgbClr val="1629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87312" y="1335024"/>
            <a:ext cx="1908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2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87312" y="1554480"/>
            <a:ext cx="1908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16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 个月以后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30112" y="1810512"/>
            <a:ext cx="2346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629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成网络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30112" y="2084832"/>
            <a:ext cx="23286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成为行业内首个全链路存证、司法级维权能力、AI 全程驱动的 C2C 数字资产交易网络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30112" y="1335024"/>
            <a:ext cx="384048" cy="384048"/>
          </a:xfrm>
          <a:prstGeom prst="ellipse">
            <a:avLst/>
          </a:prstGeom>
          <a:solidFill>
            <a:srgbClr val="16294B"/>
          </a:solidFill>
          <a:ln w="12700">
            <a:solidFill>
              <a:srgbClr val="1629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30112" y="1335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57200" y="3163824"/>
            <a:ext cx="8229600" cy="914400"/>
          </a:xfrm>
          <a:prstGeom prst="rect">
            <a:avLst/>
          </a:prstGeom>
          <a:solidFill>
            <a:srgbClr val="0E1C38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3163824"/>
            <a:ext cx="73152" cy="914400"/>
          </a:xfrm>
          <a:prstGeom prst="rect">
            <a:avLst/>
          </a:prstGeom>
          <a:solidFill>
            <a:srgbClr val="E7A93C"/>
          </a:solidFill>
          <a:ln w="12700">
            <a:solidFill>
              <a:srgbClr val="E7A9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" y="3273552"/>
            <a:ext cx="7790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7A9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冷启动 / 种子用户策略  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恒天内部员工在平台交易，凭公司凭证享受 5 折优惠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AEB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以内部真实交易快速跑通全流程、沉淀首批口碑与数据，为估值模型与信用体系提供冷启动样本，再向玩家圈子外溢。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475488"/>
          </a:xfrm>
          <a:prstGeom prst="rect">
            <a:avLst/>
          </a:prstGeom>
          <a:solidFill>
            <a:srgbClr val="E7A93C"/>
          </a:solidFill>
          <a:ln w="12700">
            <a:solidFill>
              <a:srgbClr val="E7A9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32918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spc="150" kern="0" dirty="0">
                <a:solidFill>
                  <a:srgbClr val="16223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不确定性与应对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94944" y="78638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正视外部冲击，以服务深度构筑护城河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/ 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7947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73152" cy="3200400"/>
          </a:xfrm>
          <a:prstGeom prst="rect">
            <a:avLst/>
          </a:prstGeom>
          <a:solidFill>
            <a:srgbClr val="E06A5A"/>
          </a:solidFill>
          <a:ln w="12700">
            <a:solidFill>
              <a:srgbClr val="E06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2984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6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主要不确定性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" y="1645920"/>
            <a:ext cx="3474720" cy="841248"/>
          </a:xfrm>
          <a:prstGeom prst="roundRect">
            <a:avLst>
              <a:gd name="adj" fmla="val 6522"/>
            </a:avLst>
          </a:prstGeom>
          <a:solidFill>
            <a:srgbClr val="EAF0F8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645920"/>
            <a:ext cx="73152" cy="841248"/>
          </a:xfrm>
          <a:prstGeom prst="rect">
            <a:avLst/>
          </a:prstGeom>
          <a:solidFill>
            <a:srgbClr val="E06A5A"/>
          </a:solidFill>
          <a:ln w="12700">
            <a:solidFill>
              <a:srgbClr val="E06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171907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62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厂商/平台自营冲击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86384" y="195681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若游戏厂商或头部平台亲自下场自营账号交易，凭借流量与货源优势，可能对第三方交易平台形成较大冲击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" y="2578608"/>
            <a:ext cx="3474720" cy="841248"/>
          </a:xfrm>
          <a:prstGeom prst="roundRect">
            <a:avLst>
              <a:gd name="adj" fmla="val 6522"/>
            </a:avLst>
          </a:prstGeom>
          <a:solidFill>
            <a:srgbClr val="EAF0F8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2578608"/>
            <a:ext cx="73152" cy="841248"/>
          </a:xfrm>
          <a:prstGeom prst="rect">
            <a:avLst/>
          </a:prstGeom>
          <a:solidFill>
            <a:srgbClr val="C6871F"/>
          </a:solidFill>
          <a:ln w="12700">
            <a:solidFill>
              <a:srgbClr val="C687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26517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62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政策与合规演进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86384" y="288950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数字资产确权、未成年人保护等监管持续细化，需动态合规适配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21792" y="3511296"/>
            <a:ext cx="3474720" cy="841248"/>
          </a:xfrm>
          <a:prstGeom prst="roundRect">
            <a:avLst>
              <a:gd name="adj" fmla="val 6522"/>
            </a:avLst>
          </a:prstGeom>
          <a:solidFill>
            <a:srgbClr val="EAF0F8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" y="3511296"/>
            <a:ext cx="73152" cy="841248"/>
          </a:xfrm>
          <a:prstGeom prst="rect">
            <a:avLst/>
          </a:prstGeom>
          <a:solidFill>
            <a:srgbClr val="2E5C9E"/>
          </a:solidFill>
          <a:ln w="12700">
            <a:solidFill>
              <a:srgbClr val="2E5C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35844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62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采集与数据可得性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86384" y="38221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外部平台反爬与接口变动影响比价采集稳定性，需多适配器与规则兜底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89120" y="1188720"/>
            <a:ext cx="42976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sx="100000" sy="100000" kx="0" ky="0" algn="bl" rotWithShape="0" blurRad="50800" dist="25400" dir="16200000">
              <a:srgbClr val="9AA6B8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89120" y="1188720"/>
            <a:ext cx="73152" cy="3200400"/>
          </a:xfrm>
          <a:prstGeom prst="rect">
            <a:avLst/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53712" y="12984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7C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我们的应对思路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53712" y="1645920"/>
            <a:ext cx="3968496" cy="841248"/>
          </a:xfrm>
          <a:prstGeom prst="roundRect">
            <a:avLst>
              <a:gd name="adj" fmla="val 6522"/>
            </a:avLst>
          </a:prstGeom>
          <a:solidFill>
            <a:srgbClr val="EAF0F8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71907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62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服务深度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37760" y="195681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把盯盘、陪伴、存证、文书做深做透，自营平台难以在司法级维权与全程留痕上同等投入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08576" y="1755648"/>
            <a:ext cx="274320" cy="274320"/>
          </a:xfrm>
          <a:prstGeom prst="ellipse">
            <a:avLst/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08576" y="1755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53712" y="2578608"/>
            <a:ext cx="3968496" cy="841248"/>
          </a:xfrm>
          <a:prstGeom prst="roundRect">
            <a:avLst>
              <a:gd name="adj" fmla="val 6522"/>
            </a:avLst>
          </a:prstGeom>
          <a:solidFill>
            <a:srgbClr val="EAF0F8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265176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62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多平台中立比价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37760" y="288950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跨六大平台的中立聚合与比价是第三方独有优势，自营平台天然只推自家货源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08576" y="2688336"/>
            <a:ext cx="274320" cy="274320"/>
          </a:xfrm>
          <a:prstGeom prst="ellipse">
            <a:avLst/>
          </a:prstGeom>
          <a:solidFill>
            <a:srgbClr val="2E5C9E"/>
          </a:solidFill>
          <a:ln w="12700">
            <a:solidFill>
              <a:srgbClr val="2E5C9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08576" y="2688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53712" y="3511296"/>
            <a:ext cx="3968496" cy="841248"/>
          </a:xfrm>
          <a:prstGeom prst="roundRect">
            <a:avLst>
              <a:gd name="adj" fmla="val 6522"/>
            </a:avLst>
          </a:prstGeom>
          <a:solidFill>
            <a:srgbClr val="EAF0F8"/>
          </a:solidFill>
          <a:ln w="9525">
            <a:solidFill>
              <a:srgbClr val="D9E1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358444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62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信用与存证壁垒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937760" y="38221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实名认证 + 信用分 + 只增不改证据链沉淀为数据资产，构成后来者难以复制的信任壁垒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08576" y="3621024"/>
            <a:ext cx="274320" cy="274320"/>
          </a:xfrm>
          <a:prstGeom prst="ellipse">
            <a:avLst/>
          </a:prstGeom>
          <a:solidFill>
            <a:srgbClr val="16294B"/>
          </a:solidFill>
          <a:ln w="12700">
            <a:solidFill>
              <a:srgbClr val="16294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08576" y="3621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4590288"/>
            <a:ext cx="8229600" cy="457200"/>
          </a:xfrm>
          <a:prstGeom prst="rect">
            <a:avLst/>
          </a:prstGeom>
          <a:solidFill>
            <a:srgbClr val="0E1C38"/>
          </a:solidFill>
          <a:ln w="12700">
            <a:solidFill>
              <a:srgbClr val="0E1C3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5902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不赌单一货源，而是做深服务、做厚信用、做宽比价——把不确定性转化为护城河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3977640"/>
            <a:ext cx="822960" cy="822960"/>
          </a:xfrm>
          <a:prstGeom prst="ellipse">
            <a:avLst/>
          </a:prstGeom>
          <a:solidFill>
            <a:srgbClr val="16294B"/>
          </a:solidFill>
          <a:ln w="12700">
            <a:solidFill>
              <a:srgbClr val="1F3B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83880" y="137160"/>
            <a:ext cx="822960" cy="822960"/>
          </a:xfrm>
          <a:prstGeom prst="ellipse">
            <a:avLst/>
          </a:prstGeom>
          <a:solidFill>
            <a:srgbClr val="16294B"/>
          </a:solidFill>
          <a:ln w="12700">
            <a:solidFill>
              <a:srgbClr val="1F3B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0" y="3566160"/>
            <a:ext cx="2926080" cy="0"/>
          </a:xfrm>
          <a:prstGeom prst="line">
            <a:avLst/>
          </a:prstGeom>
          <a:noFill/>
          <a:ln w="19050">
            <a:solidFill>
              <a:srgbClr val="E7A9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2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游盯盘 · YouDingPan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spc="25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数字资产的时代已经到来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spc="100" kern="0" dirty="0">
                <a:solidFill>
                  <a:srgbClr val="E7A93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年轻人值得一个安全、可靠、有 AI 全程守护的交易网络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37033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多智能体协同不是口号——从盯盘、定价、交接、陪伴到维权，每一段流程里都有一个不知疲倦的 AI 在工作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  ·  2026 年 10 月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游盯盘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游盯盘 · 基于多智能体协同的游戏账号交易平台</dc:title>
  <dc:subject>PptxGenJS Presentation</dc:subject>
  <dc:creator>游盯盘 YouDingPan</dc:creator>
  <cp:lastModifiedBy>游盯盘 YouDingPan</cp:lastModifiedBy>
  <cp:revision>1</cp:revision>
  <dcterms:created xsi:type="dcterms:W3CDTF">2026-10-23T14:29:51Z</dcterms:created>
  <dcterms:modified xsi:type="dcterms:W3CDTF">2026-10-23T14:29:51Z</dcterms:modified>
</cp:coreProperties>
</file>